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7556500" cy="10693400"/>
  <p:notesSz cx="6858000" cy="9144000"/>
  <p:embeddedFontLst>
    <p:embeddedFont>
      <p:font typeface="Red Hat Display Bold" panose="02010803040201060303"/>
      <p:bold r:id="rId9"/>
    </p:embeddedFont>
    <p:embeddedFont>
      <p:font typeface="Poppins" panose="00000500000000000000"/>
      <p:regular r:id="rId10"/>
    </p:embeddedFont>
    <p:embeddedFont>
      <p:font typeface="Poppins" panose="00000500000000000000" charset="0"/>
      <p:regular r:id="rId11"/>
    </p:embeddedFont>
    <p:embeddedFont>
      <p:font typeface="Poppins Bold" panose="00000800000000000000"/>
      <p:bold r:id="rId12"/>
    </p:embeddedFont>
    <p:embeddedFont>
      <p:font typeface="Poppins BOLD" panose="00000800000000000000" charset="0"/>
      <p:bold r:id="rId13"/>
    </p:embeddedFont>
    <p:embeddedFont>
      <p:font typeface="Red hat display BOLD" panose="02010803040201060303" charset="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53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0.fntdata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602" y="1143000"/>
            <a:ext cx="218079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56000" y="3508212"/>
            <a:ext cx="165719" cy="0"/>
          </a:xfrm>
          <a:prstGeom prst="line">
            <a:avLst/>
          </a:prstGeom>
          <a:ln w="28575" cap="flat">
            <a:solidFill>
              <a:srgbClr val="3674B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2536904" y="7962776"/>
            <a:ext cx="0" cy="491570"/>
          </a:xfrm>
          <a:prstGeom prst="line">
            <a:avLst/>
          </a:prstGeom>
          <a:ln w="9525" cap="flat">
            <a:solidFill>
              <a:srgbClr val="3674B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5060470" y="7962776"/>
            <a:ext cx="0" cy="491570"/>
          </a:xfrm>
          <a:prstGeom prst="line">
            <a:avLst/>
          </a:prstGeom>
          <a:ln w="9525" cap="flat">
            <a:solidFill>
              <a:srgbClr val="3674B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 rot="0">
            <a:off x="12700" y="62865"/>
            <a:ext cx="7581265" cy="1567180"/>
            <a:chOff x="0" y="0"/>
            <a:chExt cx="3017354" cy="812800"/>
          </a:xfrm>
          <a:solidFill>
            <a:srgbClr val="0070C0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17354" cy="812800"/>
            </a:xfrm>
            <a:custGeom>
              <a:avLst/>
              <a:gdLst/>
              <a:ahLst/>
              <a:cxnLst/>
              <a:rect l="l" t="t" r="r" b="b"/>
              <a:pathLst>
                <a:path w="3017354" h="812800">
                  <a:moveTo>
                    <a:pt x="0" y="0"/>
                  </a:moveTo>
                  <a:lnTo>
                    <a:pt x="3017354" y="0"/>
                  </a:lnTo>
                  <a:lnTo>
                    <a:pt x="3017354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017354" cy="8413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-429743" y="10340108"/>
            <a:ext cx="8419486" cy="627604"/>
            <a:chOff x="0" y="0"/>
            <a:chExt cx="3017354" cy="2249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7354" cy="224919"/>
            </a:xfrm>
            <a:custGeom>
              <a:avLst/>
              <a:gdLst/>
              <a:ahLst/>
              <a:cxnLst/>
              <a:rect l="l" t="t" r="r" b="b"/>
              <a:pathLst>
                <a:path w="3017354" h="224919">
                  <a:moveTo>
                    <a:pt x="0" y="0"/>
                  </a:moveTo>
                  <a:lnTo>
                    <a:pt x="3017354" y="0"/>
                  </a:lnTo>
                  <a:lnTo>
                    <a:pt x="3017354" y="224919"/>
                  </a:lnTo>
                  <a:lnTo>
                    <a:pt x="0" y="224919"/>
                  </a:lnTo>
                  <a:close/>
                </a:path>
              </a:pathLst>
            </a:custGeom>
            <a:solidFill>
              <a:srgbClr val="989797">
                <a:alpha val="23922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017354" cy="253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30170" y="111760"/>
            <a:ext cx="3281680" cy="5645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535"/>
              </a:lnSpc>
            </a:pPr>
            <a:r>
              <a:rPr lang="en-US" sz="2400" b="1">
                <a:solidFill>
                  <a:srgbClr val="FDFDFD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Barbara Malei</a:t>
            </a:r>
            <a:endParaRPr lang="en-US" sz="2400" b="1">
              <a:solidFill>
                <a:srgbClr val="FDFDFD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711450" y="676275"/>
            <a:ext cx="1996440" cy="3975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IT  Project Manager</a:t>
            </a:r>
            <a:endParaRPr lang="en-US" sz="120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64510" y="1379855"/>
            <a:ext cx="1373505" cy="2349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+254 110 283286</a:t>
            </a:r>
            <a:endParaRPr lang="en-US" sz="120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060315" y="1374140"/>
            <a:ext cx="2147570" cy="2400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www.reallygreatsite..com</a:t>
            </a:r>
            <a:endParaRPr lang="en-US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25755" y="1379855"/>
            <a:ext cx="2418715" cy="3644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120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Barbaramalei2005</a:t>
            </a:r>
            <a:r>
              <a:rPr lang="en-US" sz="106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@gmail.com</a:t>
            </a:r>
            <a:endParaRPr lang="en-US" sz="106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6285" y="2042160"/>
            <a:ext cx="1493520" cy="23368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400" b="1">
                <a:solidFill>
                  <a:srgbClr val="0B0A0A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Profile</a:t>
            </a:r>
            <a:endParaRPr lang="en-US" sz="1200" b="1">
              <a:solidFill>
                <a:srgbClr val="0B0A0A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56000" y="2334127"/>
            <a:ext cx="6048000" cy="108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5"/>
              </a:lnSpc>
              <a:spcBef>
                <a:spcPct val="0"/>
              </a:spcBef>
            </a:pPr>
            <a:r>
              <a:rPr lang="en-US" altLang="en-US" sz="900">
                <a:solidFill>
                  <a:srgbClr val="0B0A0A"/>
                </a:solidFill>
                <a:latin typeface="Poppins" panose="00000500000000000000" charset="0"/>
                <a:ea typeface="Poppins" panose="00000500000000000000"/>
                <a:cs typeface="Poppins" panose="00000500000000000000" charset="0"/>
                <a:sym typeface="Poppins" panose="00000500000000000000"/>
              </a:rPr>
              <a:t>I am a highly motivated and adaptable IT professional with a strong foundation in technology and project management. I excel at working with minimal supervision, thrive under pressure, and bring a collaborative mindset that leverages the power of teamwork to achieve results.A strategic leader, capable of motivating and aligning teams to deliver results under pressure.I am also a strong communicator,detail-oriented, solution-driven, and committed to continuous learning, I am eager and ready to contribute effectively and add immediate value to a dynamic organization.</a:t>
            </a:r>
            <a:endParaRPr lang="en-US" altLang="en-US" sz="900">
              <a:solidFill>
                <a:srgbClr val="0B0A0A"/>
              </a:solidFill>
              <a:latin typeface="Poppins" panose="00000500000000000000" charset="0"/>
              <a:ea typeface="Poppins" panose="00000500000000000000"/>
              <a:cs typeface="Poppins" panose="00000500000000000000" charset="0"/>
              <a:sym typeface="Poppins" panose="00000500000000000000"/>
            </a:endParaRPr>
          </a:p>
          <a:p>
            <a:pPr algn="just">
              <a:lnSpc>
                <a:spcPts val="1205"/>
              </a:lnSpc>
              <a:spcBef>
                <a:spcPct val="0"/>
              </a:spcBef>
            </a:pPr>
            <a:endParaRPr lang="en-US" altLang="en-US" sz="900">
              <a:solidFill>
                <a:srgbClr val="0B0A0A"/>
              </a:solidFill>
              <a:latin typeface="Poppins" panose="00000500000000000000" charset="0"/>
              <a:ea typeface="Poppins" panose="00000500000000000000"/>
              <a:cs typeface="Poppins" panose="00000500000000000000" charset="0"/>
              <a:sym typeface="Poppins" panose="000005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56285" y="3181350"/>
            <a:ext cx="1605280" cy="2374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1200" b="1">
              <a:solidFill>
                <a:srgbClr val="0B0A0A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0B0A0A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Education</a:t>
            </a:r>
            <a:endParaRPr lang="en-US" sz="1200" b="1">
              <a:solidFill>
                <a:srgbClr val="0B0A0A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06450" y="3796030"/>
            <a:ext cx="5997575" cy="3917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Strathmore University,Nairobi</a:t>
            </a: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1205"/>
              </a:lnSpc>
              <a:spcBef>
                <a:spcPct val="0"/>
              </a:spcBef>
            </a:pP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1205"/>
              </a:lnSpc>
              <a:spcBef>
                <a:spcPct val="0"/>
              </a:spcBef>
            </a:pP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 rot="10800000" flipV="1">
            <a:off x="794385" y="4187825"/>
            <a:ext cx="6220460" cy="1568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Strathmore University,Nairobi</a:t>
            </a: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1" name="TextBox 31"/>
          <p:cNvSpPr txBox="1"/>
          <p:nvPr/>
        </p:nvSpPr>
        <p:spPr>
          <a:xfrm rot="13800000">
            <a:off x="756285" y="6407150"/>
            <a:ext cx="334010" cy="120650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lIns="0" tIns="0" rIns="0" bIns="0" rtlCol="0" anchor="t">
            <a:noAutofit/>
          </a:bodyPr>
          <a:lstStyle/>
          <a:p>
            <a:pPr algn="just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2025</a:t>
            </a:r>
            <a:endParaRPr lang="en-US" sz="860" b="1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06450" y="3641725"/>
            <a:ext cx="6412230" cy="26225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Bachelor in Business Information Technology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20090" y="4003675"/>
            <a:ext cx="3176270" cy="1174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 Diploma In Business Information Technology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19455" y="4395470"/>
            <a:ext cx="6345555" cy="2647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  CPA-Foundation level                                                                                                                                                                                       2025-2025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l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0B0A0A"/>
                </a:solidFill>
                <a:latin typeface="Poppins" panose="00000500000000000000" charset="0"/>
                <a:ea typeface="Poppins Bold" panose="00000800000000000000"/>
                <a:cs typeface="Poppins" panose="00000500000000000000" charset="0"/>
                <a:sym typeface="Poppins Bold" panose="00000800000000000000"/>
              </a:rPr>
              <a:t>   Kasneb</a:t>
            </a:r>
            <a:r>
              <a:rPr lang="en-US" sz="860" b="1">
                <a:solidFill>
                  <a:srgbClr val="0B0A0A"/>
                </a:solidFill>
                <a:latin typeface="Poppins" panose="00000500000000000000" charset="0"/>
                <a:ea typeface="Poppins Bold" panose="00000800000000000000"/>
                <a:cs typeface="Poppins" panose="00000500000000000000" charset="0"/>
                <a:sym typeface="Poppins Bold" panose="00000800000000000000"/>
              </a:rPr>
              <a:t> ,nairobi</a:t>
            </a:r>
            <a:endParaRPr lang="en-US" sz="860" b="1">
              <a:solidFill>
                <a:srgbClr val="0B0A0A"/>
              </a:solidFill>
              <a:latin typeface="Poppins" panose="00000500000000000000" charset="0"/>
              <a:ea typeface="Poppins Bold" panose="00000800000000000000"/>
              <a:cs typeface="Poppins" panose="00000500000000000000" charset="0"/>
              <a:sym typeface="Poppins Bold" panose="00000800000000000000"/>
            </a:endParaRPr>
          </a:p>
          <a:p>
            <a:pPr algn="l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                                                                                                                                                                                    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65480" y="4740910"/>
            <a:ext cx="6263640" cy="57556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 b="1">
                <a:solidFill>
                  <a:srgbClr val="0B0A0A"/>
                </a:solidFill>
                <a:latin typeface="Poppins BOLD" panose="00000800000000000000" charset="0"/>
                <a:ea typeface="Poppins" panose="00000500000000000000"/>
                <a:cs typeface="Poppins BOLD" panose="00000800000000000000" charset="0"/>
                <a:sym typeface="Poppins" panose="00000500000000000000"/>
              </a:rPr>
              <a:t>Certificate in Computer Packages                                                                                                                                                           2025-   2025</a:t>
            </a:r>
            <a:endParaRPr lang="en-US" sz="860" b="1">
              <a:solidFill>
                <a:srgbClr val="0B0A0A"/>
              </a:solidFill>
              <a:latin typeface="Poppins BOLD" panose="00000800000000000000" charset="0"/>
              <a:ea typeface="Poppins" panose="00000500000000000000"/>
              <a:cs typeface="Poppins BOLD" panose="00000800000000000000" charset="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Nita,Nairobi</a:t>
            </a: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1200">
                <a:solidFill>
                  <a:srgbClr val="0B0A0A"/>
                </a:solidFill>
                <a:latin typeface="Red hat display BOLD" panose="02010803040201060303" charset="0"/>
                <a:ea typeface="Poppins" panose="00000500000000000000"/>
                <a:cs typeface="Red hat display BOLD" panose="02010803040201060303" charset="0"/>
                <a:sym typeface="Poppins" panose="00000500000000000000"/>
              </a:rPr>
              <a:t>Experience</a:t>
            </a:r>
            <a:endParaRPr lang="en-US" sz="1200">
              <a:solidFill>
                <a:srgbClr val="0B0A0A"/>
              </a:solidFill>
              <a:latin typeface="Poppins BOLD" panose="00000800000000000000" charset="0"/>
              <a:ea typeface="Poppins" panose="00000500000000000000"/>
              <a:cs typeface="Poppins BOLD" panose="00000800000000000000" charset="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 b="1">
                <a:solidFill>
                  <a:srgbClr val="0B0A0A"/>
                </a:solidFill>
                <a:latin typeface="Poppins BOLD" panose="00000800000000000000" charset="0"/>
                <a:ea typeface="Poppins" panose="00000500000000000000"/>
                <a:cs typeface="Poppins BOLD" panose="00000800000000000000" charset="0"/>
                <a:sym typeface="Poppins" panose="00000500000000000000"/>
              </a:rPr>
              <a:t>Assistant Manager,  Bola Properties, Nairobi                                                                                                                                           </a:t>
            </a:r>
            <a:endParaRPr lang="en-US" sz="860" b="1">
              <a:solidFill>
                <a:srgbClr val="0B0A0A"/>
              </a:solidFill>
              <a:latin typeface="Poppins BOLD" panose="00000800000000000000" charset="0"/>
              <a:ea typeface="Poppins" panose="00000500000000000000"/>
              <a:cs typeface="Poppins BOLD" panose="00000800000000000000" charset="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Jan  2025-Current</a:t>
            </a:r>
            <a:endParaRPr lang="en-US" sz="860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</a:t>
            </a: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Streamlined office operations, boosting efficiency by 30%.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-Managed schedules for executives, ensuring optimal time management.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-Coordinated events that increased team engagement by 25%.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-Implemented filing systems, reducing retrieval time by 40%.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-Handled client communications, enhancing satisfaction ratings by 20%.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-Delivered several projects a week before deadline.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-Developed reports that informed strategic decision-making processes.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-Maintained budgets, achieving cost savings of 15% annually.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-Supported project management, leading to timely project completions  using agreed  methodologies.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-Trained new staff, improving onboarding speed by 50%.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860">
                <a:solidFill>
                  <a:srgbClr val="0B0A0A"/>
                </a:solidFill>
                <a:latin typeface="Poppins BOLD" panose="00000800000000000000" charset="0"/>
                <a:ea typeface="Poppins" panose="00000500000000000000"/>
                <a:cs typeface="Poppins BOLD" panose="00000800000000000000" charset="0"/>
                <a:sym typeface="Poppins" panose="00000500000000000000"/>
              </a:rPr>
              <a:t>IT Project Manger ,Personal and freelance ,Nairobi</a:t>
            </a:r>
            <a:endParaRPr lang="en-US" sz="860">
              <a:solidFill>
                <a:srgbClr val="0B0A0A"/>
              </a:solidFill>
              <a:latin typeface="Poppins BOLD" panose="00000800000000000000" charset="0"/>
              <a:ea typeface="Poppins" panose="00000500000000000000"/>
              <a:cs typeface="Poppins BOLD" panose="00000800000000000000" charset="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Poppins" panose="00000500000000000000"/>
                <a:cs typeface="Poppins" panose="00000500000000000000" charset="0"/>
                <a:sym typeface="Poppins" panose="00000500000000000000"/>
              </a:rPr>
              <a:t>Jan 2024-Sep 2025</a:t>
            </a:r>
            <a:endParaRPr lang="en-US" sz="860" i="1">
              <a:solidFill>
                <a:schemeClr val="tx1">
                  <a:lumMod val="50000"/>
                  <a:lumOff val="50000"/>
                </a:schemeClr>
              </a:solidFill>
              <a:latin typeface="Poppins BOLD" panose="00000800000000000000" charset="0"/>
              <a:ea typeface="Poppins" panose="00000500000000000000"/>
              <a:cs typeface="Poppins BOLD" panose="00000800000000000000" charset="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-Led migration of legacy OSS/BSS systems to a hybrid AWS–Azure cloud, reducing infrastructure costs by 30% and improving scalability and uptime.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-Implemented a self-service CRM portal to automate support and ticketing, improving service efficiency by 40% and boosting customer satisfaction.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-Integrated real-time mobile wallet transactions into telecom ERP/OSS systems, enabling airtime, billing, and merchant payments and increasing revenue by 15%.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-Configured and deployed Odoo ERP modules to automate finance, HR, and operations, streamlining workflows and enhancing productivity by 25%.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r>
              <a:rPr lang="en-US" altLang="en-US" sz="860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-Executed AI-driven 5G optimization to enhance traffic management and predictive maintenance, achieving a 20% increase in network performance.</a:t>
            </a:r>
            <a:endParaRPr lang="en-US" alt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92710" lvl="1" indent="0" algn="l">
              <a:lnSpc>
                <a:spcPts val="1205"/>
              </a:lnSpc>
              <a:buFont typeface="Arial" panose="020B0604020202020204"/>
              <a:buNone/>
            </a:pP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Skills</a:t>
            </a:r>
            <a:endParaRPr lang="en-US" altLang="en-US" sz="860" b="1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71450" indent="-171450">
              <a:buFont typeface="Wingdings" panose="05000000000000000000" charset="0"/>
              <a:buChar char="v"/>
            </a:pPr>
            <a:endParaRPr lang="en-US" altLang="en-US" sz="860"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altLang="en-US" sz="860">
                <a:latin typeface="Poppins" panose="00000500000000000000" charset="0"/>
                <a:cs typeface="Poppins" panose="00000500000000000000" charset="0"/>
                <a:sym typeface="+mn-ea"/>
              </a:rPr>
              <a:t>Risk &amp; Issue Management                         Team Collaboration</a:t>
            </a:r>
            <a:endParaRPr lang="en-US" altLang="en-US" sz="860">
              <a:latin typeface="Poppins" panose="00000500000000000000" charset="0"/>
              <a:cs typeface="Poppins" panose="00000500000000000000" charset="0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en-US" sz="860">
                <a:latin typeface="Poppins" panose="00000500000000000000" charset="0"/>
                <a:cs typeface="Poppins" panose="00000500000000000000" charset="0"/>
                <a:sym typeface="+mn-ea"/>
              </a:rPr>
              <a:t>   </a:t>
            </a:r>
            <a:endParaRPr lang="en-US" altLang="en-US" sz="860">
              <a:latin typeface="Poppins" panose="00000500000000000000" charset="0"/>
              <a:cs typeface="Poppins" panose="00000500000000000000" charset="0"/>
            </a:endParaRPr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altLang="en-US" sz="860">
                <a:latin typeface="Poppins" panose="00000500000000000000" charset="0"/>
                <a:cs typeface="Poppins" panose="00000500000000000000" charset="0"/>
                <a:sym typeface="+mn-ea"/>
              </a:rPr>
              <a:t>Strategic Leadership</a:t>
            </a:r>
            <a:r>
              <a:rPr lang="en-US" altLang="en-US" sz="860">
                <a:latin typeface="Poppins" panose="00000500000000000000" charset="0"/>
                <a:cs typeface="Poppins" panose="00000500000000000000" charset="0"/>
                <a:sym typeface="+mn-ea"/>
              </a:rPr>
              <a:t>                                 Problem-Solving &amp; Critical Thinking</a:t>
            </a:r>
            <a:endParaRPr lang="en-US" altLang="en-US" sz="860">
              <a:latin typeface="Poppins" panose="00000500000000000000" charset="0"/>
              <a:cs typeface="Poppins" panose="00000500000000000000" charset="0"/>
            </a:endParaRPr>
          </a:p>
          <a:p>
            <a:pPr marL="171450" indent="-171450">
              <a:buFont typeface="Wingdings" panose="05000000000000000000" charset="0"/>
              <a:buChar char="v"/>
            </a:pPr>
            <a:endParaRPr lang="en-US" altLang="en-US" sz="860">
              <a:latin typeface="Poppins" panose="00000500000000000000" charset="0"/>
              <a:cs typeface="Poppins" panose="00000500000000000000" charset="0"/>
            </a:endParaRPr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altLang="en-US" sz="860">
                <a:latin typeface="Poppins" panose="00000500000000000000" charset="0"/>
                <a:cs typeface="Poppins" panose="00000500000000000000" charset="0"/>
                <a:sym typeface="+mn-ea"/>
              </a:rPr>
              <a:t>Effective Comunication                         Adaptability &amp; Time managemen</a:t>
            </a:r>
            <a:r>
              <a:rPr lang="en-US" altLang="en-US" sz="860">
                <a:latin typeface="Poppins" panose="00000500000000000000" charset="0"/>
                <a:cs typeface="Poppins" panose="00000500000000000000" charset="0"/>
              </a:rPr>
              <a:t>      </a:t>
            </a:r>
            <a:endParaRPr lang="en-US" sz="860">
              <a:solidFill>
                <a:srgbClr val="0B0A0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 rot="10800000" flipV="1">
            <a:off x="5937885" y="3702685"/>
            <a:ext cx="866140" cy="11398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2025-2028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 rot="10800000" flipV="1">
            <a:off x="5911850" y="4051300"/>
            <a:ext cx="866140" cy="996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 b="1">
                <a:solidFill>
                  <a:srgbClr val="0B0A0A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2023-2024</a:t>
            </a:r>
            <a:endParaRPr lang="en-US" sz="860" b="1">
              <a:solidFill>
                <a:srgbClr val="0B0A0A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11470" y="9790430"/>
            <a:ext cx="2100580" cy="121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 rot="21420000">
            <a:off x="2804795" y="9568180"/>
            <a:ext cx="2087245" cy="1445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v"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28970" y="9594850"/>
            <a:ext cx="1859280" cy="1022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060950" y="9663430"/>
            <a:ext cx="2785745" cy="883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v"/>
            </a:pPr>
            <a:r>
              <a:rPr lang="en-US" sz="860">
                <a:latin typeface="Poppins" panose="00000500000000000000" charset="0"/>
                <a:cs typeface="Poppins" panose="00000500000000000000" charset="0"/>
              </a:rPr>
              <a:t>CLoud computing</a:t>
            </a:r>
            <a:endParaRPr lang="en-US" sz="860">
              <a:latin typeface="Poppins" panose="00000500000000000000" charset="0"/>
              <a:cs typeface="Poppins" panose="00000500000000000000" charset="0"/>
            </a:endParaRPr>
          </a:p>
          <a:p>
            <a:endParaRPr lang="en-US" sz="860">
              <a:latin typeface="Poppins" panose="00000500000000000000" charset="0"/>
              <a:cs typeface="Poppins" panose="00000500000000000000" charset="0"/>
            </a:endParaRPr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sz="860">
                <a:latin typeface="Poppins" panose="00000500000000000000" charset="0"/>
                <a:cs typeface="Poppins" panose="00000500000000000000" charset="0"/>
              </a:rPr>
              <a:t>Data analyticsand business intellignce</a:t>
            </a:r>
            <a:endParaRPr lang="en-US" sz="860">
              <a:latin typeface="Poppins" panose="00000500000000000000" charset="0"/>
              <a:cs typeface="Poppins" panose="00000500000000000000" charset="0"/>
            </a:endParaRPr>
          </a:p>
          <a:p>
            <a:endParaRPr lang="en-US" sz="860">
              <a:latin typeface="Poppins" panose="00000500000000000000" charset="0"/>
              <a:cs typeface="Poppins" panose="00000500000000000000" charset="0"/>
            </a:endParaRPr>
          </a:p>
          <a:p>
            <a:pPr marL="171450" indent="-171450">
              <a:buFont typeface="Wingdings" panose="05000000000000000000" charset="0"/>
              <a:buChar char="v"/>
            </a:pPr>
            <a:r>
              <a:rPr lang="en-US" sz="860">
                <a:latin typeface="Poppins" panose="00000500000000000000" charset="0"/>
                <a:cs typeface="Poppins" panose="00000500000000000000" charset="0"/>
              </a:rPr>
              <a:t>System Intergration and infrastructure</a:t>
            </a:r>
            <a:endParaRPr lang="en-US" sz="860">
              <a:latin typeface="Poppins" panose="00000500000000000000" charset="0"/>
              <a:cs typeface="Poppins" panose="00000500000000000000" charset="0"/>
            </a:endParaRPr>
          </a:p>
          <a:p>
            <a:endParaRPr lang="en-US" sz="860">
              <a:latin typeface="Poppins" panose="00000500000000000000" charset="0"/>
              <a:cs typeface="Poppins" panose="000005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 flipV="1">
            <a:off x="2536904" y="7962776"/>
            <a:ext cx="0" cy="491570"/>
          </a:xfrm>
          <a:prstGeom prst="line">
            <a:avLst/>
          </a:prstGeom>
          <a:ln w="9525" cap="flat">
            <a:solidFill>
              <a:srgbClr val="3674B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5060470" y="7962776"/>
            <a:ext cx="0" cy="491570"/>
          </a:xfrm>
          <a:prstGeom prst="line">
            <a:avLst/>
          </a:prstGeom>
          <a:ln w="9525" cap="flat">
            <a:solidFill>
              <a:srgbClr val="3674B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756000" y="9158573"/>
            <a:ext cx="165719" cy="0"/>
          </a:xfrm>
          <a:prstGeom prst="line">
            <a:avLst/>
          </a:prstGeom>
          <a:ln w="28575" cap="flat">
            <a:solidFill>
              <a:srgbClr val="3674B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 rot="0">
            <a:off x="-429743" y="10340108"/>
            <a:ext cx="8419486" cy="627604"/>
            <a:chOff x="0" y="0"/>
            <a:chExt cx="3017354" cy="2249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017354" cy="224919"/>
            </a:xfrm>
            <a:custGeom>
              <a:avLst/>
              <a:gdLst/>
              <a:ahLst/>
              <a:cxnLst/>
              <a:rect l="l" t="t" r="r" b="b"/>
              <a:pathLst>
                <a:path w="3017354" h="224919">
                  <a:moveTo>
                    <a:pt x="0" y="0"/>
                  </a:moveTo>
                  <a:lnTo>
                    <a:pt x="3017354" y="0"/>
                  </a:lnTo>
                  <a:lnTo>
                    <a:pt x="3017354" y="224919"/>
                  </a:lnTo>
                  <a:lnTo>
                    <a:pt x="0" y="224919"/>
                  </a:lnTo>
                  <a:close/>
                </a:path>
              </a:pathLst>
            </a:custGeom>
            <a:solidFill>
              <a:srgbClr val="989797">
                <a:alpha val="23922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017354" cy="253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56000" y="736686"/>
            <a:ext cx="3815300" cy="47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b="1">
                <a:solidFill>
                  <a:srgbClr val="FDFDFD"/>
                </a:solidFill>
                <a:latin typeface="Red Hat Display Bold" panose="02010803040201060303"/>
                <a:ea typeface="Red Hat Display Bold" panose="02010803040201060303"/>
                <a:cs typeface="Red Hat Display Bold" panose="02010803040201060303"/>
                <a:sym typeface="Red Hat Display Bold" panose="02010803040201060303"/>
              </a:rPr>
              <a:t>Maanvita Kumari</a:t>
            </a:r>
            <a:endParaRPr lang="en-US" sz="3500" b="1">
              <a:solidFill>
                <a:srgbClr val="FDFDFD"/>
              </a:solidFill>
              <a:latin typeface="Red Hat Display Bold" panose="02010803040201060303"/>
              <a:ea typeface="Red Hat Display Bold" panose="02010803040201060303"/>
              <a:cs typeface="Red Hat Display Bold" panose="02010803040201060303"/>
              <a:sym typeface="Red Hat Display Bold" panose="020108030402010603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56000" y="1164346"/>
            <a:ext cx="2206037" cy="3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5"/>
              </a:lnSpc>
              <a:spcBef>
                <a:spcPct val="0"/>
              </a:spcBef>
            </a:pPr>
            <a:r>
              <a:rPr lang="en-US" sz="1855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Office Marketing</a:t>
            </a:r>
            <a:endParaRPr lang="en-US" sz="1855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577138" y="736950"/>
            <a:ext cx="1226862" cy="14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+123-456-7890</a:t>
            </a:r>
            <a:endParaRPr lang="en-US" sz="86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29978" y="951514"/>
            <a:ext cx="1474022" cy="14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123 Anywhere St., Any City</a:t>
            </a:r>
            <a:endParaRPr lang="en-US" sz="86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428842" y="1166077"/>
            <a:ext cx="1375158" cy="14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www.reallygreatsite.com</a:t>
            </a:r>
            <a:endParaRPr lang="en-US" sz="86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200694" y="1380641"/>
            <a:ext cx="1603306" cy="143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05"/>
              </a:lnSpc>
              <a:spcBef>
                <a:spcPct val="0"/>
              </a:spcBef>
            </a:pPr>
            <a:r>
              <a:rPr lang="en-US" sz="860">
                <a:solidFill>
                  <a:srgbClr val="FDFDFD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hello@reallygreatsite.com</a:t>
            </a:r>
            <a:endParaRPr lang="en-US" sz="860">
              <a:solidFill>
                <a:srgbClr val="FDFDFD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462915" y="260985"/>
            <a:ext cx="6849110" cy="95421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>
                <a:solidFill>
                  <a:srgbClr val="0B0A0A"/>
                </a:solidFill>
                <a:latin typeface="Poppins BOLD" panose="00000800000000000000" charset="0"/>
                <a:ea typeface="Red Hat Display Bold" panose="02010803040201060303"/>
                <a:cs typeface="Poppins BOLD" panose="00000800000000000000" charset="0"/>
                <a:sym typeface="Red Hat Display Bold" panose="02010803040201060303"/>
              </a:rPr>
              <a:t>Education &amp;Certification</a:t>
            </a:r>
            <a:endParaRPr lang="en-US" altLang="en-US" sz="860" b="1">
              <a:solidFill>
                <a:srgbClr val="0B0A0A"/>
              </a:solidFill>
              <a:latin typeface="Poppins BOLD" panose="00000800000000000000" charset="0"/>
              <a:ea typeface="Red Hat Display Bold" panose="02010803040201060303"/>
              <a:cs typeface="Poppins BOLD" panose="000008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altLang="en-US" sz="860" b="1">
              <a:solidFill>
                <a:srgbClr val="0B0A0A"/>
              </a:solidFill>
              <a:latin typeface="Poppins BOLD" panose="00000800000000000000" charset="0"/>
              <a:ea typeface="Red Hat Display Bold" panose="02010803040201060303"/>
              <a:cs typeface="Poppins BOLD" panose="000008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IBM data analytics Certificate 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Cousera-2025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AWS cloud Solutions Architect Certificate 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Cousera-2025</a:t>
            </a:r>
            <a:endParaRPr lang="en-US" altLang="en-US" sz="860" b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IBM Devops and Software Engineering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Cousera-2025</a:t>
            </a:r>
            <a:endParaRPr lang="en-US" altLang="en-US" sz="860" b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IBM IT Scrum Master Certificate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Cousera 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ITIL Essentials Certificat</a:t>
            </a:r>
            <a:r>
              <a:rPr lang="en-US" altLang="en-US" sz="860" b="1">
                <a:solidFill>
                  <a:srgbClr val="0B0A0A"/>
                </a:solidFill>
                <a:latin typeface="Poppins BOLD" panose="00000800000000000000" charset="0"/>
                <a:ea typeface="Red Hat Display Bold" panose="02010803040201060303"/>
                <a:cs typeface="Poppins BOLD" panose="00000800000000000000" charset="0"/>
                <a:sym typeface="Red Hat Display Bold" panose="02010803040201060303"/>
              </a:rPr>
              <a:t>e</a:t>
            </a:r>
            <a:endParaRPr lang="en-US" altLang="en-US" sz="860" b="1">
              <a:solidFill>
                <a:srgbClr val="0B0A0A"/>
              </a:solidFill>
              <a:latin typeface="Poppins BOLD" panose="00000800000000000000" charset="0"/>
              <a:ea typeface="Red Hat Display Bold" panose="02010803040201060303"/>
              <a:cs typeface="Poppins BOLD" panose="000008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Cousera-2025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IBM Program Management  Certificate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 Cousera -2025</a:t>
            </a:r>
            <a:endParaRPr lang="en-US" altLang="en-US" sz="860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indent="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None/>
            </a:pPr>
            <a:r>
              <a:rPr lang="en-US" altLang="en-US" sz="860">
                <a:solidFill>
                  <a:schemeClr val="tx1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        </a:t>
            </a:r>
            <a:endParaRPr lang="en-US" altLang="en-US" sz="860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indent="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None/>
            </a:pPr>
            <a:r>
              <a:rPr lang="en-US" altLang="en-US" sz="960" b="1">
                <a:solidFill>
                  <a:schemeClr val="tx1">
                    <a:lumMod val="50000"/>
                    <a:lumOff val="50000"/>
                  </a:schemeClr>
                </a:solidFill>
                <a:latin typeface="Poppins BOLD" panose="00000800000000000000" charset="0"/>
                <a:ea typeface="Red Hat Display Bold" panose="02010803040201060303"/>
                <a:cs typeface="Poppins BOLD" panose="00000800000000000000" charset="0"/>
                <a:sym typeface="Red Hat Display Bold" panose="02010803040201060303"/>
              </a:rPr>
              <a:t>Referral</a:t>
            </a:r>
            <a:r>
              <a:rPr lang="en-US" altLang="en-US" sz="9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s</a:t>
            </a:r>
            <a:endParaRPr lang="en-US" altLang="en-US" sz="9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v"/>
            </a:pPr>
            <a:r>
              <a:rPr lang="en-US" altLang="en-US" sz="860" b="1">
                <a:solidFill>
                  <a:schemeClr val="tx1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Malei Nthiwa -Managing Director  -Bola Properties</a:t>
            </a:r>
            <a:endParaRPr lang="en-US" altLang="en-US" sz="860" b="1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>
                <a:solidFill>
                  <a:schemeClr val="tx1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  0722942285</a:t>
            </a:r>
            <a:endParaRPr lang="en-US" altLang="en-US" sz="860" b="1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/>
                </a:solidFill>
                <a:latin typeface="Poppins BOLD" panose="00000800000000000000" charset="0"/>
                <a:ea typeface="Red Hat Display Bold" panose="02010803040201060303"/>
                <a:cs typeface="Poppins BOLD" panose="00000800000000000000" charset="0"/>
                <a:sym typeface="Red Hat Display Bold" panose="02010803040201060303"/>
              </a:rPr>
              <a:t>Language</a:t>
            </a:r>
            <a:endParaRPr lang="en-US" altLang="en-US" sz="860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indent="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</p:txBody>
      </p:sp>
      <p:sp>
        <p:nvSpPr>
          <p:cNvPr id="70" name="Text Box 69"/>
          <p:cNvSpPr txBox="1"/>
          <p:nvPr/>
        </p:nvSpPr>
        <p:spPr>
          <a:xfrm rot="10800000" flipV="1">
            <a:off x="3778250" y="736600"/>
            <a:ext cx="3322320" cy="1333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Microsoft Azure Security Engineer Associate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Cousera-2025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Cisco Cybersecurity Operations fundamentals Certificate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Cousera-2025</a:t>
            </a:r>
            <a:endParaRPr lang="en-US" altLang="en-US" sz="860" b="1" i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Comptia Network+(N10-008)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Cousera-2025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Google Agile Essentials Certificate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 Cousera-2025</a:t>
            </a:r>
            <a:endParaRPr lang="en-US" altLang="en-US" sz="860" b="1" i="1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860" b="1">
                <a:solidFill>
                  <a:srgbClr val="0B0A0A"/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Cisco Network Automation Engineering Fundamentals Certificate</a:t>
            </a:r>
            <a:endParaRPr lang="en-US" altLang="en-US" sz="860" b="1">
              <a:solidFill>
                <a:srgbClr val="0B0A0A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altLang="en-US" sz="860" b="1" i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          Cousera-2025</a:t>
            </a:r>
            <a:endParaRPr lang="en-US" sz="860"/>
          </a:p>
        </p:txBody>
      </p:sp>
      <p:sp>
        <p:nvSpPr>
          <p:cNvPr id="72" name="Text Box 71"/>
          <p:cNvSpPr txBox="1"/>
          <p:nvPr/>
        </p:nvSpPr>
        <p:spPr>
          <a:xfrm>
            <a:off x="2681605" y="4508500"/>
            <a:ext cx="2519045" cy="365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75" name="Text Box 74"/>
          <p:cNvSpPr txBox="1"/>
          <p:nvPr/>
        </p:nvSpPr>
        <p:spPr>
          <a:xfrm>
            <a:off x="3265805" y="3741420"/>
            <a:ext cx="2431415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v"/>
            </a:pPr>
            <a:endParaRPr lang="en-US" altLang="en-US" sz="860">
              <a:latin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77" name="Text Box 76"/>
          <p:cNvSpPr txBox="1"/>
          <p:nvPr/>
        </p:nvSpPr>
        <p:spPr>
          <a:xfrm>
            <a:off x="5330190" y="3761740"/>
            <a:ext cx="256730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Wingdings" panose="05000000000000000000" charset="0"/>
              <a:buChar char="v"/>
            </a:pPr>
            <a:endParaRPr lang="en-US" sz="860">
              <a:latin typeface="Poppins" panose="00000500000000000000" charset="0"/>
              <a:cs typeface="Poppins" panose="00000500000000000000" charset="0"/>
            </a:endParaRPr>
          </a:p>
        </p:txBody>
      </p:sp>
      <p:sp>
        <p:nvSpPr>
          <p:cNvPr id="84" name="Text Box 83"/>
          <p:cNvSpPr txBox="1"/>
          <p:nvPr/>
        </p:nvSpPr>
        <p:spPr>
          <a:xfrm>
            <a:off x="561975" y="4723765"/>
            <a:ext cx="3906520" cy="2109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860"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English-Proficient</a:t>
            </a:r>
            <a:endParaRPr lang="en-US" altLang="en-US" sz="860"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860"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Kiswahili-Proficient </a:t>
            </a:r>
            <a:endParaRPr lang="en-US" altLang="en-US" sz="860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marL="171450" indent="-171450" algn="l">
              <a:lnSpc>
                <a:spcPts val="168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860"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French-Interm</a:t>
            </a:r>
            <a:r>
              <a:rPr lang="en-US" altLang="en-US" sz="860" i="1">
                <a:latin typeface="Poppins" panose="00000500000000000000" charset="0"/>
                <a:ea typeface="Red Hat Display Bold" panose="02010803040201060303"/>
                <a:cs typeface="Poppins" panose="00000500000000000000" charset="0"/>
                <a:sym typeface="Red Hat Display Bold" panose="02010803040201060303"/>
              </a:rPr>
              <a:t>ediate</a:t>
            </a:r>
            <a:endParaRPr lang="en-US" altLang="en-US" sz="860" i="1">
              <a:solidFill>
                <a:schemeClr val="tx1"/>
              </a:solidFill>
              <a:latin typeface="Poppins" panose="00000500000000000000" charset="0"/>
              <a:ea typeface="Red Hat Display Bold" panose="02010803040201060303"/>
              <a:cs typeface="Poppins" panose="00000500000000000000" charset="0"/>
              <a:sym typeface="Red Hat Display Bold" panose="02010803040201060303"/>
            </a:endParaRPr>
          </a:p>
          <a:p>
            <a:pPr algn="l">
              <a:lnSpc>
                <a:spcPts val="1680"/>
              </a:lnSpc>
              <a:spcBef>
                <a:spcPct val="0"/>
              </a:spcBef>
            </a:pPr>
            <a:endParaRPr lang="en-US" sz="860"/>
          </a:p>
        </p:txBody>
      </p:sp>
      <p:cxnSp>
        <p:nvCxnSpPr>
          <p:cNvPr id="2" name="Straight Connector 1"/>
          <p:cNvCxnSpPr/>
          <p:nvPr/>
        </p:nvCxnSpPr>
        <p:spPr>
          <a:xfrm>
            <a:off x="3473450" y="317500"/>
            <a:ext cx="0" cy="3048000"/>
          </a:xfrm>
          <a:prstGeom prst="line">
            <a:avLst/>
          </a:prstGeom>
          <a:ln w="2222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4419</Words>
  <Application>WPS Presentation</Application>
  <PresentationFormat>On-screen Show (4:3)</PresentationFormat>
  <Paragraphs>127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SimSun</vt:lpstr>
      <vt:lpstr>Wingdings</vt:lpstr>
      <vt:lpstr>Red Hat Display Bold</vt:lpstr>
      <vt:lpstr>Poppins</vt:lpstr>
      <vt:lpstr>Poppins</vt:lpstr>
      <vt:lpstr>Poppins Bold</vt:lpstr>
      <vt:lpstr>Arial</vt:lpstr>
      <vt:lpstr>Poppins BOLD</vt:lpstr>
      <vt:lpstr>Red hat display BOLD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Real Estate Resume</dc:title>
  <dc:creator/>
  <cp:lastModifiedBy>Barbara Malei</cp:lastModifiedBy>
  <cp:revision>4</cp:revision>
  <dcterms:created xsi:type="dcterms:W3CDTF">2006-08-16T00:00:00Z</dcterms:created>
  <dcterms:modified xsi:type="dcterms:W3CDTF">2025-11-13T17:43:38Z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C3E3C7E03EDF4201BB828E4A8321B550_13</vt:lpwstr>
  </property>
  <property fmtid="{D5CDD505-2E9C-101B-9397-08002B2CF9AE}" pid="3" name="KSOProductBuildVer">
    <vt:lpwstr>1033-12.2.0.23155</vt:lpwstr>
  </property>
</Properties>
</file>